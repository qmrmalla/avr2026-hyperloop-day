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gj5zXHB0LJjMRiNkKwk3RMIHI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Guten Tag, mein Name ist Kamar Al Malla. Ich stelle mein Projekt aus dem Modul Absolute &amp; Virtual Reality vor: ein VR-Trainingsszenario fuer die Hyperloop-Infrastruktur goTube - wie man das Vakuum-Tor sicher oeffnet. (~30 Sek.)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Sechs Teile: Kontext, physikalischer Kern, Konzept/Ablauf, technische Umsetzung, Highlights im Video, Fazit &amp; Ausblick. (~30 Sek.)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goTube: reale Hyperloop-Forschungsanlage der HS Emden/Leer. 27 m Stahlroehre, 1,67 m Durchmesser, Soft-Vakuum ~100 Pa. Teil von HyperBRIDGE (Partner Veendam/NL). Warum VR: sicherheitskritisch, gefahrlos und beliebig oft ueben, immersives Lernen. (~2 Min.)</a:t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Innen Vakuum, aussen Atmosphaerendruck. Druckdifferenz presst das Tor zu: F = dp*A ~ 200 kN, entspricht ~20 Tonnen. Konsequenz: Frontlock nie direkt oeffnen - zuerst Druckausgleich ueber Ventile. Das ist der Lernkern. (~2 Min.)</a:t>
            </a:r>
            <a:endParaRPr/>
          </a:p>
        </p:txBody>
      </p:sp>
      <p:sp>
        <p:nvSpPr>
          <p:cNvPr id="58" name="Google Shape;5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 Schritte: 1 Inspektion, 2 Leitstand, 3 Druckausgleich, 4 Sicherheitspruefung, 5 Position, 6 Totmann (zwei Taster gleichzeitig), 7 Sichern mit Bolzen. VR-Fokus: Schritt 3 und 6. Konzept beschreibt alles, VR setzt Kernschritte um. (~2,5 Min.)</a:t>
            </a:r>
            <a:endParaRPr/>
          </a:p>
        </p:txBody>
      </p:sp>
      <p:sp>
        <p:nvSpPr>
          <p:cNvPr id="70" name="Google Shape;7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Unity + Meta XR SDK, Standalone auf Quest 2. Druckausgleich per Poke-Taster, Manometer live. Vertikales Schiebetor (Translation nach oben). Totmann mit zwei Poke-Tastern. NOT-AUS + Text-Warnungen. Deutsche Audio-Anweisungen, Eingaben waehrend Ansage gesperrt. Hand-Tracking + Controller. Test per APK-Build (Link nicht unterstuetzt), Meta-XR-Settings/Android-API. (~3 Min.)</a:t>
            </a:r>
            <a:endParaRPr/>
          </a:p>
        </p:txBody>
      </p:sp>
      <p:sp>
        <p:nvSpPr>
          <p:cNvPr id="106" name="Google Shape;10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Drei kurze Clips, nach Highlights geschnitten: 1) Druckausgleich/Manometer, 2) Tor oeffnen mit Totmann, 3) NOT-AUS/Warnungen. Zu jedem Clip nur 2-3 Saetze. (~2,5 Min.)</a:t>
            </a:r>
            <a:endParaRPr/>
          </a:p>
        </p:txBody>
      </p:sp>
      <p:sp>
        <p:nvSpPr>
          <p:cNvPr id="138" name="Google Shape;13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4308d982c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f4308d982c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f4308d982c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Erreicht: vollstaendig lauffaehiges VR-Szenario auf Quest 2 mit allen Kernfunktionen. Ausblick: Locomotion, Schritt 7 interaktiv mit LED, bessere Beleuchtung, optionale Checkliste. (~1,5 Min.)</a:t>
            </a:r>
            <a:endParaRPr/>
          </a:p>
        </p:txBody>
      </p:sp>
      <p:sp>
        <p:nvSpPr>
          <p:cNvPr id="176" name="Google Shape;17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Endabgabe als Commit im GitHub-Repository. Dank + Ueberleitung zur Diskussion. Auf Fragen vorbereitet sein (siehe Skript). (~30 Sek.)</a:t>
            </a:r>
            <a:endParaRPr/>
          </a:p>
        </p:txBody>
      </p:sp>
      <p:sp>
        <p:nvSpPr>
          <p:cNvPr id="193" name="Google Shape;19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3.png"/><Relationship Id="rId8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QuPL2xqBaNAG2B_hgGEHmC2emLlX31Vv/view" TargetMode="External"/><Relationship Id="rId4" Type="http://schemas.openxmlformats.org/officeDocument/2006/relationships/image" Target="../media/image8.jpg"/><Relationship Id="rId10" Type="http://schemas.openxmlformats.org/officeDocument/2006/relationships/image" Target="../media/image20.jpg"/><Relationship Id="rId9" Type="http://schemas.openxmlformats.org/officeDocument/2006/relationships/hyperlink" Target="http://drive.google.com/file/d/1N7ZWLFXrT9-zmr1M50SMiEY76Zn2NMmx/view" TargetMode="External"/><Relationship Id="rId5" Type="http://schemas.openxmlformats.org/officeDocument/2006/relationships/hyperlink" Target="http://drive.google.com/file/d/1DIg2iBosutWQULl1lRuwJtMQkELaouzb/view" TargetMode="External"/><Relationship Id="rId6" Type="http://schemas.openxmlformats.org/officeDocument/2006/relationships/image" Target="../media/image19.jpg"/><Relationship Id="rId7" Type="http://schemas.openxmlformats.org/officeDocument/2006/relationships/hyperlink" Target="http://drive.google.com/file/d/1GQsQo1longtfnleFDcOle4v68zBet11h/view" TargetMode="External"/><Relationship Id="rId8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5360" y="548640"/>
            <a:ext cx="310896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822960" y="7772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Absolute &amp; Virtual Reality  ·  AVR2026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22960" y="1737360"/>
            <a:ext cx="10332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goTube – Öffnen des Vakuum-Tors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" y="278892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Ein immersives VR-Trainingsszenario für die Hyperloop-Forschungsinfrastruktur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4114800"/>
            <a:ext cx="822960" cy="822960"/>
          </a:xfrm>
          <a:prstGeom prst="ellipse">
            <a:avLst/>
          </a:prstGeom>
          <a:solidFill>
            <a:srgbClr val="065A82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930" y="432877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1828800" y="41605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Hyperloop-Day  ·  Phase 02: Endabgabe &amp; Präsentation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Kamar Al Malla  ·  Matrikelnr. 941055  ·  Master Medieninformatik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Betreuung: Prof. Dr. Thies Pfeiffer  ·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822960" y="54864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Agenda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822960" y="155448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737360" y="155448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Kontext &amp; Motivation   </a:t>
            </a:r>
            <a:r>
              <a:rPr b="0" i="0" lang="en-US" sz="13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goTube, Hyperloop, warum VR-Training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822960" y="2304288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737360" y="230428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Physikalischer Kern   </a:t>
            </a:r>
            <a:r>
              <a:rPr b="0" i="0" lang="en-US" sz="13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Vakuum, Druckausgleich, ~200 kN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822960" y="3054096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737360" y="3054096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Konzept des Szenarios   </a:t>
            </a:r>
            <a:r>
              <a:rPr b="0" i="0" lang="en-US" sz="13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Ablauf in sieben Schritten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22960" y="3803904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737360" y="3803904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Technische Umsetzung   </a:t>
            </a:r>
            <a:r>
              <a:rPr b="0" i="0" lang="en-US" sz="13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Unity, Meta XR, Interaktion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822960" y="4553712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737360" y="4553712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Highlights (Video)   </a:t>
            </a:r>
            <a:r>
              <a:rPr b="0" i="0" lang="en-US" sz="13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Druckausgleich, Totmann, Tor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22960" y="530352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737360" y="530352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Fazit &amp; Ausblick   </a:t>
            </a:r>
            <a:r>
              <a:rPr b="0" i="0" lang="en-US" sz="13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Ergebnis und Weiterentwicklung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/>
          <p:nvPr/>
        </p:nvSpPr>
        <p:spPr>
          <a:xfrm>
            <a:off x="822960" y="5029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01  ·  Kontext &amp; Motivation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822960" y="9601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Was ist goTube?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822960" y="1920240"/>
            <a:ext cx="61264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goTube ist eine reale Hyperloop-Forschungsinfrastruktur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27 m lange Stahlröhre, Durchmesser 1,67 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Soft-Vakuum von ca. 100 Pa (0,5 mbar)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Institute of Hyperloop Technology, Hochschule Emden/Leer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Teil des Interreg-Projekts HyperBRIDGE (Partner Veendam/NL)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7315200" y="1920240"/>
            <a:ext cx="4023360" cy="3566160"/>
          </a:xfrm>
          <a:prstGeom prst="roundRect">
            <a:avLst>
              <a:gd fmla="val 3077" name="adj"/>
            </a:avLst>
          </a:prstGeom>
          <a:solidFill>
            <a:srgbClr val="21295C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7635240" y="2240280"/>
            <a:ext cx="731520" cy="731520"/>
          </a:xfrm>
          <a:prstGeom prst="ellipse">
            <a:avLst/>
          </a:prstGeom>
          <a:solidFill>
            <a:srgbClr val="1C7293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" name="Google Shape;5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5435" y="2430475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/>
          <p:nvPr/>
        </p:nvSpPr>
        <p:spPr>
          <a:xfrm>
            <a:off x="8549640" y="228600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Warum VR-Training?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7635240" y="3200400"/>
            <a:ext cx="34290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Der Umgang mit dem Vakuum-Tor ist sicherheitskritisch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Gefahrloses Üben ohne reale Risiken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Wiederholbar und ortsunabhängig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Immersives Lernen des korrekten Ablaufs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/>
          <p:nvPr/>
        </p:nvSpPr>
        <p:spPr>
          <a:xfrm>
            <a:off x="822960" y="5029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02  ·  Physikalischer Kern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Warum darf das Tor nicht direkt geöffnet werden?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822960" y="2011680"/>
            <a:ext cx="3657600" cy="3291840"/>
          </a:xfrm>
          <a:prstGeom prst="roundRect">
            <a:avLst>
              <a:gd fmla="val 3333" name="adj"/>
            </a:avLst>
          </a:prstGeom>
          <a:solidFill>
            <a:srgbClr val="065A82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822960" y="246888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≈ 200 kN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822960" y="33832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Kraft auf das Tor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822960" y="397764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entspricht dem Gewicht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von rund 20 Tonnen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846320" y="2148840"/>
            <a:ext cx="649224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Im evakuierten Zustand herrscht im Inneren nahezu Vakuum.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B243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Der äußere Atmosphärendruck presst das Tor mit enormer Kraft zu: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065A8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F = Δp · A ≈ 101.325 Pa · π · (0,8 m)² ≈ 204 kN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B243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Konsequenz: Der Frontlock darf niemals direkt geöffnet werden – zuerst muss über Ventile ein Druckausgleich erfolgen.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822960" y="5029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03  ·  Konzept des Szenarios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Der Ablauf in sieben Schritten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822960" y="1874520"/>
            <a:ext cx="5029200" cy="914400"/>
          </a:xfrm>
          <a:prstGeom prst="roundRect">
            <a:avLst>
              <a:gd fmla="val 8000" name="adj"/>
            </a:avLst>
          </a:prstGeom>
          <a:solidFill>
            <a:srgbClr val="F4F7FA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1005840" y="2093976"/>
            <a:ext cx="475488" cy="47548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1005840" y="2093976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600200" y="196596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Visuelle Inspektion</a:t>
            </a:r>
            <a:br>
              <a:rPr b="1" i="0" lang="en-US" sz="15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Kabel, Schalter, Sensoren, Seilzug prüfen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822960" y="2953512"/>
            <a:ext cx="5029200" cy="914400"/>
          </a:xfrm>
          <a:prstGeom prst="roundRect">
            <a:avLst>
              <a:gd fmla="val 8000" name="adj"/>
            </a:avLst>
          </a:prstGeom>
          <a:solidFill>
            <a:srgbClr val="ECF2F7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1005840" y="3172968"/>
            <a:ext cx="475488" cy="47548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1005840" y="317296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600200" y="3044952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Leitstand</a:t>
            </a:r>
            <a:br>
              <a:rPr b="1" i="0" lang="en-US" sz="15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Manometer ablesen, entlüften, Türbetrieb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822960" y="4032504"/>
            <a:ext cx="5029200" cy="914400"/>
          </a:xfrm>
          <a:prstGeom prst="roundRect">
            <a:avLst>
              <a:gd fmla="val 8000" name="adj"/>
            </a:avLst>
          </a:prstGeom>
          <a:solidFill>
            <a:srgbClr val="F4F7FA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1005840" y="4251960"/>
            <a:ext cx="475488" cy="47548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1005840" y="425196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1600200" y="4123944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Druckausgleich</a:t>
            </a:r>
            <a:br>
              <a:rPr b="1" i="0" lang="en-US" sz="15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Über Ventile bis Sensor-Freigabe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822960" y="5111496"/>
            <a:ext cx="5029200" cy="914400"/>
          </a:xfrm>
          <a:prstGeom prst="roundRect">
            <a:avLst>
              <a:gd fmla="val 8000" name="adj"/>
            </a:avLst>
          </a:prstGeom>
          <a:solidFill>
            <a:srgbClr val="ECF2F7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1005840" y="5330952"/>
            <a:ext cx="475488" cy="47548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1005840" y="533095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1600200" y="5202936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Sicherheitsprüfung</a:t>
            </a:r>
            <a:br>
              <a:rPr b="1" i="0" lang="en-US" sz="15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Freigängigkeit &amp; freier Fahrweg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309360" y="1874520"/>
            <a:ext cx="5029200" cy="914400"/>
          </a:xfrm>
          <a:prstGeom prst="roundRect">
            <a:avLst>
              <a:gd fmla="val 8000" name="adj"/>
            </a:avLst>
          </a:prstGeom>
          <a:solidFill>
            <a:srgbClr val="F4F7FA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6492240" y="2093976"/>
            <a:ext cx="475488" cy="47548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6492240" y="2093976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7086600" y="196596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Position einnehmen</a:t>
            </a:r>
            <a:br>
              <a:rPr b="1" i="0" lang="en-US" sz="15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Gefahrenbereich freihalten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309360" y="2953512"/>
            <a:ext cx="5029200" cy="914400"/>
          </a:xfrm>
          <a:prstGeom prst="roundRect">
            <a:avLst>
              <a:gd fmla="val 8000" name="adj"/>
            </a:avLst>
          </a:prstGeom>
          <a:solidFill>
            <a:srgbClr val="ECF2F7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6492240" y="3172968"/>
            <a:ext cx="475488" cy="47548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6492240" y="317296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7086600" y="3044952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Totmann-Bedienung</a:t>
            </a:r>
            <a:br>
              <a:rPr b="1" i="0" lang="en-US" sz="15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Zwei Taster gleichzeitig → Tor öffnet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309360" y="4032504"/>
            <a:ext cx="5029200" cy="914400"/>
          </a:xfrm>
          <a:prstGeom prst="roundRect">
            <a:avLst>
              <a:gd fmla="val 8000" name="adj"/>
            </a:avLst>
          </a:prstGeom>
          <a:solidFill>
            <a:srgbClr val="F4F7FA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6492240" y="4251960"/>
            <a:ext cx="475488" cy="47548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6492240" y="425196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7086600" y="4123944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Tor sichern</a:t>
            </a:r>
            <a:br>
              <a:rPr b="1" i="0" lang="en-US" sz="15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In Offenstellung mit Bolzen sichern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6309360" y="5943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Lernkern der VR-Umsetzung: Schritt 3 (Druckausgleich) und Schritt 6 (Totmann)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822960" y="5029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04  ·  Technische Umsetzung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Umgesetzt in Unity mit dem Meta XR SDK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822960" y="1874520"/>
            <a:ext cx="5212080" cy="123444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1024128" y="2130552"/>
            <a:ext cx="731520" cy="731520"/>
          </a:xfrm>
          <a:prstGeom prst="ellipse">
            <a:avLst/>
          </a:prstGeom>
          <a:solidFill>
            <a:srgbClr val="065A82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" name="Google Shape;11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4323" y="2320747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6"/>
          <p:cNvSpPr/>
          <p:nvPr/>
        </p:nvSpPr>
        <p:spPr>
          <a:xfrm>
            <a:off x="1920240" y="2011680"/>
            <a:ext cx="3977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Druckausgleich</a:t>
            </a:r>
            <a:br>
              <a:rPr b="1" i="0" lang="en-US" sz="15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Poke-Taster startet den Ausgleich; Manometer zeigt den Verlauf live 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6309360" y="1874520"/>
            <a:ext cx="5212080" cy="123444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6510528" y="2130552"/>
            <a:ext cx="731520" cy="731520"/>
          </a:xfrm>
          <a:prstGeom prst="ellipse">
            <a:avLst/>
          </a:prstGeom>
          <a:solidFill>
            <a:srgbClr val="1C7293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0723" y="2320747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6"/>
          <p:cNvSpPr/>
          <p:nvPr/>
        </p:nvSpPr>
        <p:spPr>
          <a:xfrm>
            <a:off x="7406640" y="2011680"/>
            <a:ext cx="3977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Vertikales Schiebetor</a:t>
            </a:r>
            <a:br>
              <a:rPr b="1" i="0" lang="en-US" sz="15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Das Gate gleitet nach Druckausgleich nach oben (Translation)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822960" y="3291840"/>
            <a:ext cx="5212080" cy="123444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1024128" y="3547872"/>
            <a:ext cx="731520" cy="731520"/>
          </a:xfrm>
          <a:prstGeom prst="ellipse">
            <a:avLst/>
          </a:prstGeom>
          <a:solidFill>
            <a:srgbClr val="065A82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4323" y="3738067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/>
          <p:nvPr/>
        </p:nvSpPr>
        <p:spPr>
          <a:xfrm>
            <a:off x="1920240" y="3429000"/>
            <a:ext cx="3977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Totmann-Prinzip</a:t>
            </a:r>
            <a:br>
              <a:rPr b="1" i="0" lang="en-US" sz="15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Zwei Poke-Taster müssen gehalten werden – Hände außerhalb der Gefahr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309360" y="3291840"/>
            <a:ext cx="5212080" cy="123444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6510528" y="3547872"/>
            <a:ext cx="731520" cy="731520"/>
          </a:xfrm>
          <a:prstGeom prst="ellipse">
            <a:avLst/>
          </a:prstGeom>
          <a:solidFill>
            <a:srgbClr val="1C7293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00723" y="3738067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"/>
          <p:cNvSpPr/>
          <p:nvPr/>
        </p:nvSpPr>
        <p:spPr>
          <a:xfrm>
            <a:off x="7406640" y="3429000"/>
            <a:ext cx="3977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NOT-AUS &amp; Warnungen</a:t>
            </a:r>
            <a:br>
              <a:rPr b="1" i="0" lang="en-US" sz="15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Roter Taster stoppt sofort; Sicherheitshinweise als Text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822960" y="4709160"/>
            <a:ext cx="5212080" cy="123444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1024128" y="4965192"/>
            <a:ext cx="731520" cy="731520"/>
          </a:xfrm>
          <a:prstGeom prst="ellipse">
            <a:avLst/>
          </a:prstGeom>
          <a:solidFill>
            <a:srgbClr val="065A82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14323" y="5155387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"/>
          <p:cNvSpPr/>
          <p:nvPr/>
        </p:nvSpPr>
        <p:spPr>
          <a:xfrm>
            <a:off x="1920240" y="4846320"/>
            <a:ext cx="3977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Audio-Anweisungen</a:t>
            </a:r>
            <a:br>
              <a:rPr b="1" i="0" lang="en-US" sz="15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Deutsche Sprachführung; Eingaben gesperrt während der Ansage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309360" y="4709160"/>
            <a:ext cx="5212080" cy="123444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6510528" y="4965192"/>
            <a:ext cx="731520" cy="731520"/>
          </a:xfrm>
          <a:prstGeom prst="ellipse">
            <a:avLst/>
          </a:prstGeom>
          <a:solidFill>
            <a:srgbClr val="1C7293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" name="Google Shape;132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00723" y="5155387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/>
          <p:nvPr/>
        </p:nvSpPr>
        <p:spPr>
          <a:xfrm>
            <a:off x="7406640" y="4846320"/>
            <a:ext cx="3977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Interaktion</a:t>
            </a:r>
            <a:br>
              <a:rPr b="1" i="0" lang="en-US" sz="15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Hand-Tracking (Virtual Hands) und Controller via Poke Interaction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Build als APK direkt auf Meta Quest 2  ·  Meta-XR-Projekteinstellungen (Android-API ≥ 29)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822960" y="5029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05  ·  Highlights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Demonstration im Video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Die interaktiven Inhalte werden als geschnittenes Video gezeigt – schrittweise nach Highlights.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822960" y="2743200"/>
            <a:ext cx="2560320" cy="2651760"/>
          </a:xfrm>
          <a:prstGeom prst="roundRect">
            <a:avLst>
              <a:gd fmla="val 3571" name="adj"/>
            </a:avLst>
          </a:prstGeom>
          <a:solidFill>
            <a:srgbClr val="2A3566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1737360" y="3063240"/>
            <a:ext cx="777240" cy="777240"/>
          </a:xfrm>
          <a:prstGeom prst="ellipse">
            <a:avLst/>
          </a:prstGeom>
          <a:solidFill>
            <a:srgbClr val="1C7293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" name="Google Shape;1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9442" y="3265322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7"/>
          <p:cNvSpPr/>
          <p:nvPr/>
        </p:nvSpPr>
        <p:spPr>
          <a:xfrm>
            <a:off x="914400" y="39776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Druckausgleich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005840" y="4434840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Manometer steigt live von 0 auf 1 bar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3611880" y="2743200"/>
            <a:ext cx="2560320" cy="2651760"/>
          </a:xfrm>
          <a:prstGeom prst="roundRect">
            <a:avLst>
              <a:gd fmla="val 3571" name="adj"/>
            </a:avLst>
          </a:prstGeom>
          <a:solidFill>
            <a:srgbClr val="2A3566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4526280" y="3063240"/>
            <a:ext cx="777240" cy="777240"/>
          </a:xfrm>
          <a:prstGeom prst="ellipse">
            <a:avLst/>
          </a:prstGeom>
          <a:solidFill>
            <a:srgbClr val="1C7293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8362" y="3265322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/>
          <p:nvPr/>
        </p:nvSpPr>
        <p:spPr>
          <a:xfrm>
            <a:off x="3703320" y="39776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Tor öffnen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3794760" y="4434840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Vertikales Gleiten nach oben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6400800" y="2743200"/>
            <a:ext cx="2560320" cy="2651760"/>
          </a:xfrm>
          <a:prstGeom prst="roundRect">
            <a:avLst>
              <a:gd fmla="val 3571" name="adj"/>
            </a:avLst>
          </a:prstGeom>
          <a:solidFill>
            <a:srgbClr val="2A3566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7315200" y="3063240"/>
            <a:ext cx="777240" cy="777240"/>
          </a:xfrm>
          <a:prstGeom prst="ellipse">
            <a:avLst/>
          </a:prstGeom>
          <a:solidFill>
            <a:srgbClr val="1C7293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5" name="Google Shape;15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17282" y="3265322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/>
          <p:nvPr/>
        </p:nvSpPr>
        <p:spPr>
          <a:xfrm>
            <a:off x="6492240" y="39776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Totmann-Taster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6583680" y="4434840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Beide Taster auf der ElectricBox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9189720" y="2743200"/>
            <a:ext cx="2560320" cy="2651760"/>
          </a:xfrm>
          <a:prstGeom prst="roundRect">
            <a:avLst>
              <a:gd fmla="val 3571" name="adj"/>
            </a:avLst>
          </a:prstGeom>
          <a:solidFill>
            <a:srgbClr val="2A3566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10104120" y="3063240"/>
            <a:ext cx="777240" cy="777240"/>
          </a:xfrm>
          <a:prstGeom prst="ellipse">
            <a:avLst/>
          </a:prstGeom>
          <a:solidFill>
            <a:srgbClr val="1C7293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06202" y="3265322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7"/>
          <p:cNvSpPr/>
          <p:nvPr/>
        </p:nvSpPr>
        <p:spPr>
          <a:xfrm>
            <a:off x="9281160" y="39776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Sicherheit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9372600" y="4434840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NOT-AUS und Warnhinweise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AA0C8"/>
                </a:solidFill>
                <a:latin typeface="Calibri"/>
                <a:ea typeface="Calibri"/>
                <a:cs typeface="Calibri"/>
                <a:sym typeface="Calibri"/>
              </a:rPr>
              <a:t>Videoplatzhalter: hier die aufgezeichneten Highlight-Clips einbinden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7293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g3f4308d982c_0_2" title="45bf52f133294e10976f747b38ec2a46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7850" y="0"/>
            <a:ext cx="5940774" cy="338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f4308d982c_0_2" title="45bf52f133294e10976f747b38ec2a46.mov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6800" y="0"/>
            <a:ext cx="5787949" cy="338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f4308d982c_0_2" title="45bf52f133294e10976f747b38ec2a46.mov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87850" y="3390009"/>
            <a:ext cx="5940774" cy="3341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f4308d982c_0_2" title="45bf52f133294e10976f747b38ec2a46.mov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86801" y="3513950"/>
            <a:ext cx="5787955" cy="325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/>
          <p:nvPr/>
        </p:nvSpPr>
        <p:spPr>
          <a:xfrm>
            <a:off x="822960" y="5029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06  ·  Fazit &amp; Ausblick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Ergebnis und Weiterentwicklung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822960" y="1920240"/>
            <a:ext cx="5212080" cy="3566160"/>
          </a:xfrm>
          <a:prstGeom prst="roundRect">
            <a:avLst>
              <a:gd fmla="val 3077" name="adj"/>
            </a:avLst>
          </a:prstGeom>
          <a:solidFill>
            <a:srgbClr val="F4F7FA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1097280" y="2194560"/>
            <a:ext cx="685800" cy="685800"/>
          </a:xfrm>
          <a:prstGeom prst="ellipse">
            <a:avLst/>
          </a:prstGeom>
          <a:solidFill>
            <a:srgbClr val="065A82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5588" y="237286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8"/>
          <p:cNvSpPr/>
          <p:nvPr/>
        </p:nvSpPr>
        <p:spPr>
          <a:xfrm>
            <a:off x="1920240" y="224028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Erreicht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1097280" y="3017520"/>
            <a:ext cx="46634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Vollständig lauffähiges VR-Szenario auf Meta Quest 2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B2430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Druckausgleich, Manometer, Schiebetor, Totmann, NOT-AUS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B2430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Audio-Anweisungen und textuelle Sicherheitshinweise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B2430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Interaktion per Hand-Tracking und Controller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6309360" y="1920240"/>
            <a:ext cx="5029200" cy="3566160"/>
          </a:xfrm>
          <a:prstGeom prst="roundRect">
            <a:avLst>
              <a:gd fmla="val 3077" name="adj"/>
            </a:avLst>
          </a:prstGeom>
          <a:solidFill>
            <a:srgbClr val="21295C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6583680" y="2194560"/>
            <a:ext cx="685800" cy="685800"/>
          </a:xfrm>
          <a:prstGeom prst="ellipse">
            <a:avLst/>
          </a:prstGeom>
          <a:solidFill>
            <a:srgbClr val="1C7293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7" name="Google Shape;18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1988" y="237286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8"/>
          <p:cNvSpPr/>
          <p:nvPr/>
        </p:nvSpPr>
        <p:spPr>
          <a:xfrm>
            <a:off x="7406640" y="224028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Ausblick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6583680" y="3017520"/>
            <a:ext cx="44805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Locomotion: freie Bewegung zum Bedienpanel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CADCFC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Schritt 7 als interaktives Sichern mit LED-Feedback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CADCFC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Verbesserte Beleuchtung und Szenengestaltung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CADCFC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Optionale Checkliste für die Sicherheitsprüfung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5" name="Google Shape;19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8240" y="3657600"/>
            <a:ext cx="292608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9"/>
          <p:cNvSpPr/>
          <p:nvPr/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Vielen Dank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822960" y="33832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Fragen und Diskussion sind willkommen.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822960" y="512064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Kamar Al Malla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Repository &amp; Endabgabe: GitHub (QmrMalla / AVR2026-HYPERLOOP-DAY)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2026-07-07T15:56:51Z</dcterms:created>
  <dc:creator>Kamar Al Malla</dc:creator>
</cp:coreProperties>
</file>